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2809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28090"/>
                </a:solidFill>
                <a:latin typeface="Arial"/>
              </a:rPr>
              <a:t>Conservative Revenue Projection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Yr 1</c:v>
                  </c:pt>
                  <c:pt idx="1">
                    <c:v>Yr 2</c:v>
                  </c:pt>
                  <c:pt idx="2">
                    <c:v>Yr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19990</c:v>
                </c:pt>
                <c:pt idx="1">
                  <c:v>74963</c:v>
                </c:pt>
                <c:pt idx="2">
                  <c:v>149925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with: 'I want to share something I have been building. It is called GatewayGuard — a Windows 11 security tool for everyday people. I am not here to sell you on it. I just want you to know what I am doing, why I think it is a real business opportunity, and where it is headed.' Let them read the tagline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numbers are sourced from Cybersecurity Ventures, Microsoft, and the FBI IC3. The core problem: cybercrime is massive, most victims are home users, and the average loss is nearly $20,000. Windows 11 has the security features built in — but some are not on by default.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differentiator: user control. Every other tool applies changes automatically or requires technical knowledge. GatewayGuard teaches while it works. And it runs completely offline — zero data collected, ever.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independent research from Microsoft Copilot, June 2026. The key finding: three separate tool categories exist, and none of them serve the guided home-user hardening need. GatewayGuard sits in the uncontested middle.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billion Windows 11 users worldwide. A $47.75 billion consumer security market. GatewayGuard is aimed at the person who owns the PC rather than at a sysadmin. Comparable tools cost more and explain less. GatewayGuard at $19.99 serves the home user who just wants to be safe.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Pricing is straightforward. Single PC $19.99 one-time. Multi-PC packs for families. Optional annual updates at $12.99 a year -- optional, so not a subscription. Assisted sessions — a real person helping you over screen share — for users who want human support. Assisted sessions are on the roadmap and are not available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not an idea on paper. 22 build iterations tested on real consumer hardware. Security guide version 9 is largely written. The LLC is filed. The domain is secured. Three machines on the test fleet as of today: HP SANDY, Lenovo IdeaPad, and Dell Latitude 5430 (Win 11 Pro, arrived today).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statement is factual and defensible. One competitor is named, on slide 5, with its price sourced. The tagline refers to Microsoft Defender — built into every Windows 11 PC for free. The 2FA hook is powerful: blocks 99.9% of automated attacks, takes 5 minutes, costs nothing. GDPR angle: zero data by design, not policy.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Timeline works backward from September 1 — one month before Windows 11 26H2 ships in October. Being ready September 1 means we can market 'Updated for Windows 11 26H2' the moment Microsoft announces it. That is a marketing moment money cannot buy.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Conservative projections. Year 1 assumes 1,000 users with zero advertising spend — just beta program and word of mouth. Year 3 at $150,000 assumes 5,000 users — a tiny fraction of 1 billion Windows 11 users. Annual update subscription is where recurring revenue lives.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phases. Phase 1 is testing — what we are doing right now. Phase 2 is beta — real users testing the console tool. Phase 3 is website. Phase 4 is launch ready. A full week-by-week CPM is available separately. Critical path is 10 working days — projecting build completion around July 14.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with: 'That is GatewayGuard. The gap is real. The market is enormous. The timing is right. And the product works. I have been building this methodically — 22 versions tested on real hardware with real users. The business foundation is going in now. Happy to answer any questions.'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GatewayGuard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GatewayGuard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91440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D6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paying for something you already own.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3977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6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will set it up and secure it correctly.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4663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GatewayGuard LLC  ·  gatewayguard.co  ·  June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100584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D6EEF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1097280"/>
            <a:ext cx="265176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$10.5T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457200" y="1907438"/>
            <a:ext cx="265176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Cybercrime cost globally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(Cybersecurity Ventures)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46120" y="100584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D6EEF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246120" y="1097280"/>
            <a:ext cx="265176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$19,372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3246120" y="1907438"/>
            <a:ext cx="265176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victim loss per incident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(FBI IC3 Annual Report 2024)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035040" y="100584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D6EEF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035040" y="1097280"/>
            <a:ext cx="265176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6035040" y="1907438"/>
            <a:ext cx="265176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incidents caused by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error (IBM 2024)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274320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 password attacks per second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 of breaches use stolen passwords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2FA blocks 99.9% of automated account attacks — takes 5 minutes, costs nothing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11 has strong built-in defenses — but many home users never configure them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Cybersecurity Ventures · Microsoft Digital Defense Report · FBI IC3 2024 · IBM Cost of Data Breach 2024 · Verizon DBIR 2024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1005840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10515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20+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2331720"/>
            <a:ext cx="24688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66928" y="2377440"/>
            <a:ext cx="22494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 every critical Windows 11 security setting — and explains what it found.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108960" y="1005840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108960" y="10515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EXPLAINED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108960" y="2331720"/>
            <a:ext cx="24688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218688" y="2377440"/>
            <a:ext cx="22494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jargon. Every setting described in terms a home user understands.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760720" y="1005840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760720" y="10515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APPROVE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760720" y="2331720"/>
            <a:ext cx="24688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870448" y="2377440"/>
            <a:ext cx="22494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changes without your permission. You stay in full control.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57200" y="37033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Reversible — every automated change can be undone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completely offline — zero data collected, ever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Accompanied by a full written guide at gatewayguard.co/guide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on Windows 11 Home AND Pro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Validation — Independent Research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96012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028090"/>
          </a:solidFill>
          <a:ln/>
        </p:spPr>
      </p:sp>
      <p:sp>
        <p:nvSpPr>
          <p:cNvPr id="6" name="Text 3"/>
          <p:cNvSpPr/>
          <p:nvPr/>
        </p:nvSpPr>
        <p:spPr>
          <a:xfrm>
            <a:off x="566928" y="987552"/>
            <a:ext cx="8010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No current tool offers guided, educational, risk-explaining hardening for non-technical home users. This gap is real and uncontested.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57200" y="1783080"/>
            <a:ext cx="26517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66928" y="182880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EDR Tools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66928" y="219456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Defender for Endpoint · CrowdStrike · Cortex XDR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66928" y="2578608"/>
            <a:ext cx="2432304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Text 8"/>
          <p:cNvSpPr/>
          <p:nvPr/>
        </p:nvSpPr>
        <p:spPr>
          <a:xfrm>
            <a:off x="566928" y="2633472"/>
            <a:ext cx="2432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Gap: Require IT dept. Cannot be used by home users.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246120" y="1783080"/>
            <a:ext cx="26517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355848" y="182880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Tools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355848" y="219456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CIS-CAT · MS Security Baseline · OpenSCAP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355848" y="2578608"/>
            <a:ext cx="2432304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Text 13"/>
          <p:cNvSpPr/>
          <p:nvPr/>
        </p:nvSpPr>
        <p:spPr>
          <a:xfrm>
            <a:off x="3355848" y="2633472"/>
            <a:ext cx="2432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Gap: Too technical. Produce audit reports, not guidance.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035040" y="1783080"/>
            <a:ext cx="26517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144768" y="182880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/ Debloat Tools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144768" y="219456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O&amp;O ShutUp10++ · Win11Debloat · Winaero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144768" y="2578608"/>
            <a:ext cx="2432304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8"/>
          <p:cNvSpPr/>
          <p:nvPr/>
        </p:nvSpPr>
        <p:spPr>
          <a:xfrm>
            <a:off x="6144768" y="2633472"/>
            <a:ext cx="2432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Gap: Focus on tweaks, not security. No AV/BitLocker/firewall.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57200" y="374904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1B7A4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566928" y="3776472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GatewayGuard fills the gap: guided, educational, reversible hardening — designed for home users who want to be safe without needing an IT department.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57200" y="480060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Independent market validation research, Microsoft Copilot, June 2026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Opportunity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100584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D6EEF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1097280"/>
            <a:ext cx="2651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1B+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457200" y="1854403"/>
            <a:ext cx="2651760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11 users worldwide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(Microsoft, January 2026)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46120" y="100584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D6EEF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246120" y="1097280"/>
            <a:ext cx="2651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$47.75B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3246120" y="1854403"/>
            <a:ext cx="2651760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security market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(Mordor Intelligence 2026)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035040" y="100584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D6EEF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035040" y="1097280"/>
            <a:ext cx="2651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6035040" y="1854403"/>
            <a:ext cx="2651760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offering guided home-user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hardening — the gap we fill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 Competitor — NoID Privacy Pro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926080"/>
          <a:ext cx="8229600" cy="1828800"/>
        </p:xfrm>
        <a:graphic>
          <a:graphicData uri="http://schemas.openxmlformats.org/drawingml/2006/table">
            <a:tbl>
              <a:tblPr/>
              <a:tblGrid>
                <a:gridCol w="2560320"/>
                <a:gridCol w="2743200"/>
                <a:gridCol w="2926080"/>
              </a:tblGrid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NoID Privacy Pro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GatewayGuard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A4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$43 per device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$19.99 per device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Changes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630 applied automatically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approves each change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Explanations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Technical documentation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Plain English for every setting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Audience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Technical users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Home users — no skills required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Human support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public support channel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Assisted sessions planned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1005840"/>
            <a:ext cx="2057400" cy="347472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05840"/>
            <a:ext cx="2057400" cy="1005840"/>
          </a:xfrm>
          <a:prstGeom prst="roundRect">
            <a:avLst>
              <a:gd name="adj" fmla="val 10909"/>
            </a:avLst>
          </a:prstGeom>
          <a:solidFill>
            <a:srgbClr val="028090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1600200"/>
            <a:ext cx="2057400" cy="411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0515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$19.99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57200" y="155448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PC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2057400"/>
            <a:ext cx="1874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One-time purchase.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Lifetime use on one PC.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Includes full guide access.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697480" y="1005840"/>
            <a:ext cx="2057400" cy="347472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697480" y="1005840"/>
            <a:ext cx="2057400" cy="1005840"/>
          </a:xfrm>
          <a:prstGeom prst="roundRect">
            <a:avLst>
              <a:gd name="adj" fmla="val 10909"/>
            </a:avLst>
          </a:prstGeom>
          <a:solidFill>
            <a:srgbClr val="028090"/>
          </a:solidFill>
          <a:ln/>
        </p:spPr>
      </p:sp>
      <p:sp>
        <p:nvSpPr>
          <p:cNvPr id="13" name="Shape 10"/>
          <p:cNvSpPr/>
          <p:nvPr/>
        </p:nvSpPr>
        <p:spPr>
          <a:xfrm>
            <a:off x="2697480" y="1600200"/>
            <a:ext cx="2057400" cy="411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1"/>
          <p:cNvSpPr/>
          <p:nvPr/>
        </p:nvSpPr>
        <p:spPr>
          <a:xfrm>
            <a:off x="2697480" y="10515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$34.99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2697480" y="155448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3-Pack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788920" y="2057400"/>
            <a:ext cx="1874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One-time purchase.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Covers 3 household PCs.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savings built in.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937760" y="1005840"/>
            <a:ext cx="2057400" cy="347472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937760" y="1005840"/>
            <a:ext cx="2057400" cy="1005840"/>
          </a:xfrm>
          <a:prstGeom prst="roundRect">
            <a:avLst>
              <a:gd name="adj" fmla="val 10909"/>
            </a:avLst>
          </a:prstGeom>
          <a:solidFill>
            <a:srgbClr val="028090"/>
          </a:solidFill>
          <a:ln/>
        </p:spPr>
      </p:sp>
      <p:sp>
        <p:nvSpPr>
          <p:cNvPr id="19" name="Shape 16"/>
          <p:cNvSpPr/>
          <p:nvPr/>
        </p:nvSpPr>
        <p:spPr>
          <a:xfrm>
            <a:off x="4937760" y="1600200"/>
            <a:ext cx="2057400" cy="411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0" name="Text 17"/>
          <p:cNvSpPr/>
          <p:nvPr/>
        </p:nvSpPr>
        <p:spPr>
          <a:xfrm>
            <a:off x="4937760" y="10515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$12.99/yr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4937760" y="155448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Updates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029200" y="2057400"/>
            <a:ext cx="1874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GatewayGuard current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Windows 11 evolves.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revenue stream.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178040" y="1005840"/>
            <a:ext cx="2057400" cy="347472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178040" y="1005840"/>
            <a:ext cx="2057400" cy="1005840"/>
          </a:xfrm>
          <a:prstGeom prst="roundRect">
            <a:avLst>
              <a:gd name="adj" fmla="val 10909"/>
            </a:avLst>
          </a:prstGeom>
          <a:solidFill>
            <a:srgbClr val="028090"/>
          </a:solidFill>
          <a:ln/>
        </p:spPr>
      </p:sp>
      <p:sp>
        <p:nvSpPr>
          <p:cNvPr id="25" name="Shape 22"/>
          <p:cNvSpPr/>
          <p:nvPr/>
        </p:nvSpPr>
        <p:spPr>
          <a:xfrm>
            <a:off x="7178040" y="1600200"/>
            <a:ext cx="2057400" cy="411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6" name="Text 23"/>
          <p:cNvSpPr/>
          <p:nvPr/>
        </p:nvSpPr>
        <p:spPr>
          <a:xfrm>
            <a:off x="7178040" y="10515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7178040" y="155448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Assisted Session (Planned)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269480" y="2057400"/>
            <a:ext cx="1874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person, screen share.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 guidance.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Written for the person who owns the PC.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GatewayGuard LLC (Maine) filed · gatewayguard.co secured · EIN application pending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Already Built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28090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3977640"/>
        </p:xfrm>
        <a:graphic>
          <a:graphicData uri="http://schemas.openxmlformats.org/drawingml/2006/table">
            <a:tbl>
              <a:tblPr/>
              <a:tblGrid>
                <a:gridCol w="365760"/>
                <a:gridCol w="7863840"/>
              </a:tblGrid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7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Working PowerShell tool — 22 build iterations (ascii22), tested on real hardware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7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3-machine test fleet — HP SANDY (Win 11 Home), Lenovo IdeaPad (Win 11 Home), Dell Latitude 5430 (Win 11 Pro)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7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 guide v9 — the content for the website, largely written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7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GatewayGuard LLC (Maine) — filed via Form MLLC-6, Noncommercial Registered Agent confirmed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7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Domain secured — gatewayguard.co registered and active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7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Apps audit identifies suspicious software AND unused apps (6+ months inactive)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6A8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EIN application — in progress (IRS online, ~5 minutes)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6A8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bank account — pending EIN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6A8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Commercial code-signing certificate — Sectigo/DigiCert (~$200-400/yr), launch prerequisite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6A8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Website Phase 1 — gatewayguard.co (guide hub, download page, home)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Marketing Story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100584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4360" y="11155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Tagline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" y="14630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'Stop paying for something you already own.' — Defender is built in. Many people don't know it's there or configured correctly.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709160" y="100584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846320" y="11155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2FA Hook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846320" y="14630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2FA blocks 99.9% of automated account attacks. Takes 5 minutes. Costs nothing. No other Windows tool teaches users this.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" y="283464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94360" y="29443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Privacy Promise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94360" y="32918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data collected — not by policy, but by design. Nothing to collect means nothing to breach. A genuine advantage in GDPR markets.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709160" y="283464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846320" y="29443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Advantage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846320" y="32918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competitor is a tool. We plan to offer a person, too. Assisted sessions are a future differentiator on our roadmap — they are not available today.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marketing claims are sourced and verifiable. Links published at gatewayguard.co/sources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960120"/>
            <a:ext cx="2103120" cy="3931920"/>
          </a:xfrm>
          <a:prstGeom prst="roundRect">
            <a:avLst>
              <a:gd name="adj" fmla="val 5217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102412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135331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6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— Jul 14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48640" y="1719072"/>
            <a:ext cx="1920240" cy="228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181051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8640" y="2286000"/>
            <a:ext cx="1920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ascii22 on all 3 machines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 11 Home + Pro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Pro-specific fixes → ascii23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788920" y="960120"/>
            <a:ext cx="2103120" cy="3931920"/>
          </a:xfrm>
          <a:prstGeom prst="roundRect">
            <a:avLst>
              <a:gd name="adj" fmla="val 5217"/>
            </a:avLst>
          </a:prstGeom>
          <a:solidFill>
            <a:srgbClr val="015F6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788920" y="102412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788920" y="135331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6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 14 — Aug 1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880360" y="1719072"/>
            <a:ext cx="1920240" cy="228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2788920" y="181051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2880360" y="2286000"/>
            <a:ext cx="1920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users, real hardware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share sessions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Compatibility list grows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120640" y="960120"/>
            <a:ext cx="2103120" cy="3931920"/>
          </a:xfrm>
          <a:prstGeom prst="roundRect">
            <a:avLst>
              <a:gd name="adj" fmla="val 5217"/>
            </a:avLst>
          </a:prstGeom>
          <a:solidFill>
            <a:srgbClr val="1B7A4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120640" y="102412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120640" y="135331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6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 1 — Aug 22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212080" y="1719072"/>
            <a:ext cx="1920240" cy="228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8"/>
          <p:cNvSpPr/>
          <p:nvPr/>
        </p:nvSpPr>
        <p:spPr>
          <a:xfrm>
            <a:off x="5120640" y="181051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212080" y="2286000"/>
            <a:ext cx="1920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gatewayguard.co Phase 1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 + download + home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Code-signing certificate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452360" y="960120"/>
            <a:ext cx="2103120" cy="3931920"/>
          </a:xfrm>
          <a:prstGeom prst="roundRect">
            <a:avLst>
              <a:gd name="adj" fmla="val 5217"/>
            </a:avLst>
          </a:prstGeom>
          <a:solidFill>
            <a:srgbClr val="C27A0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7452360" y="102412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452360" y="135331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6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 22 — Sep 1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7543800" y="1719072"/>
            <a:ext cx="1920240" cy="228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4"/>
          <p:cNvSpPr/>
          <p:nvPr/>
        </p:nvSpPr>
        <p:spPr>
          <a:xfrm>
            <a:off x="7452360" y="181051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Ready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7543800" y="2286000"/>
            <a:ext cx="1920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QA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materials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1 target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57200" y="4983480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September 1, 2026 — one month ahead of Windows 11 26H2 launch (October 2026)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28090"/>
          </a:solidFill>
          <a:ln/>
        </p:spPr>
      </p:sp>
      <p:graphicFrame>
        <p:nvGraphicFramePr>
          <p:cNvPr id="5" name="Chart 0" descr=""/>
          <p:cNvGraphicFramePr/>
          <p:nvPr/>
        </p:nvGraphicFramePr>
        <p:xfrm>
          <a:off x="457200" y="96012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/>
          <p:nvPr/>
        </p:nvSpPr>
        <p:spPr>
          <a:xfrm>
            <a:off x="5715000" y="9601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15000" y="1371600"/>
          <a:ext cx="3200400" cy="1463040"/>
        </p:xfrm>
        <a:graphic>
          <a:graphicData uri="http://schemas.openxmlformats.org/drawingml/2006/table">
            <a:tbl>
              <a:tblPr/>
              <a:tblGrid>
                <a:gridCol w="640080"/>
                <a:gridCol w="1371600"/>
                <a:gridCol w="11887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1,000 users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$19,990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3,000 users+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updates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$74,963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5,000 users+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updates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$149,925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3"/>
          <p:cNvSpPr/>
          <p:nvPr/>
        </p:nvSpPr>
        <p:spPr>
          <a:xfrm>
            <a:off x="5715000" y="2926080"/>
            <a:ext cx="3200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Zero advertising spend in Year 1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Beta program + word of mouth only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Annual update = natural recurring hook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5,000 users = 0.0005% of 1 billion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charges $43 — we charge $19.99 with more value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Path to Launch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1042416"/>
            <a:ext cx="256032" cy="256032"/>
          </a:xfrm>
          <a:prstGeom prst="ellipse">
            <a:avLst/>
          </a:prstGeom>
          <a:solidFill>
            <a:srgbClr val="1B7A4A"/>
          </a:solidFill>
          <a:ln/>
        </p:spPr>
      </p:sp>
      <p:sp>
        <p:nvSpPr>
          <p:cNvPr id="6" name="Shape 3"/>
          <p:cNvSpPr/>
          <p:nvPr/>
        </p:nvSpPr>
        <p:spPr>
          <a:xfrm>
            <a:off x="580644" y="1298448"/>
            <a:ext cx="0" cy="22860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00584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30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691640" y="100584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Dell Latitude 5430 arrives — 3-machine Pro test fleet complete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1517904"/>
            <a:ext cx="256032" cy="25603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Shape 7"/>
          <p:cNvSpPr/>
          <p:nvPr/>
        </p:nvSpPr>
        <p:spPr>
          <a:xfrm>
            <a:off x="580644" y="1773936"/>
            <a:ext cx="0" cy="22860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148132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14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691640" y="148132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ascii23 built and tested on all 3 machines (Home + Pro)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1993392"/>
            <a:ext cx="256032" cy="25603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Shape 11"/>
          <p:cNvSpPr/>
          <p:nvPr/>
        </p:nvSpPr>
        <p:spPr>
          <a:xfrm>
            <a:off x="580644" y="2249424"/>
            <a:ext cx="0" cy="22860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195681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14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691640" y="1956816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Phase 1 QA complete — guide, home, download pages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2468880"/>
            <a:ext cx="256032" cy="25603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Shape 15"/>
          <p:cNvSpPr/>
          <p:nvPr/>
        </p:nvSpPr>
        <p:spPr>
          <a:xfrm>
            <a:off x="580644" y="2724912"/>
            <a:ext cx="0" cy="22860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2960" y="243230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15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1691640" y="2432304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obtained · Business bank account opened · Domain → LLC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944368"/>
            <a:ext cx="256032" cy="25603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Shape 19"/>
          <p:cNvSpPr/>
          <p:nvPr/>
        </p:nvSpPr>
        <p:spPr>
          <a:xfrm>
            <a:off x="580644" y="3200400"/>
            <a:ext cx="0" cy="22860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22960" y="290779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15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1691640" y="290779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 tester recruitment opens at gatewayguard.co/beta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419856"/>
            <a:ext cx="256032" cy="25603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Shape 23"/>
          <p:cNvSpPr/>
          <p:nvPr/>
        </p:nvSpPr>
        <p:spPr>
          <a:xfrm>
            <a:off x="580644" y="3675888"/>
            <a:ext cx="0" cy="22860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22960" y="338328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1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1691640" y="338328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Code-signing certificate obtained and applied to build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95344"/>
            <a:ext cx="256032" cy="25603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0" name="Shape 27"/>
          <p:cNvSpPr/>
          <p:nvPr/>
        </p:nvSpPr>
        <p:spPr>
          <a:xfrm>
            <a:off x="580644" y="4151376"/>
            <a:ext cx="0" cy="22860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22960" y="385876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22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1691640" y="385876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integration QA — tool + website + marketing materials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457200" y="4370832"/>
            <a:ext cx="256032" cy="25603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4" name="Text 31"/>
          <p:cNvSpPr/>
          <p:nvPr/>
        </p:nvSpPr>
        <p:spPr>
          <a:xfrm>
            <a:off x="822960" y="433425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1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1691640" y="4334256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— 26H2-ready, fully signed, website live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GatewayGuard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GatewayGuard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914400" y="26517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D6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is real.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30632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D6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 is enormous.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3474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D6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timing is right.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4400" y="38862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works.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14400" y="4663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gatewayguard.co  ·  GatewayGuard LLC  ·  william.wfbiii@gmail.com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GatewayGuard Family Presentation</dc:title>
  <dc:subject>PptxGenJS Presentation</dc:subject>
  <dc:creator>William F. Burns III</dc:creator>
  <cp:lastModifiedBy>William F. Burns III</cp:lastModifiedBy>
  <cp:revision>1</cp:revision>
  <dcterms:created xsi:type="dcterms:W3CDTF">2026-07-01T23:37:57Z</dcterms:created>
  <dcterms:modified xsi:type="dcterms:W3CDTF">2026-07-01T23:37:57Z</dcterms:modified>
</cp:coreProperties>
</file>