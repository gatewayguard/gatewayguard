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($)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
(1,000 users)</c:v>
                  </c:pt>
                  <c:pt idx="1">
                    <c:v>Year 2
(2,500 users)</c:v>
                  </c:pt>
                  <c:pt idx="2">
                    <c:v>Year 3
(5,000 users)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19990</c:v>
                </c:pt>
                <c:pt idx="1">
                  <c:v>62475</c:v>
                </c:pt>
                <c:pt idx="2">
                  <c:v>149900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ADCF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FFFFF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ADCF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>
        <a:alpha val="10000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I want to share something I've been building. This isn't a sales pitch -- I just want you to know what I'm working on and why I think it matters.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numbers are real. Cybercrime is expensive and growing. The good news: most of it is preventable with the right settings turned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GatewayGuard is the tool that doesn't exist yet -- simple enough for anyone to use, explained clearly, with the user always in control.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independent research sources confirmed the same thing: this gap is real and uncontested. Microsoft Copilot, Privacy Guides community, and Windows Forum all said the same 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pricing is well below the only comparable competitor at $43/device. Annual updates create recurring revenue from the same customer base. The assisted session tier adds something no competitor offers at any price -- a real person.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isn't an idea -- it's a working product in active testing. The hard technical work is largely done.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line here is factual and defensible. We let users draw their own conclusions -- no negative statements about anyone.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timing is deliberate -- being ready one month before Windows 11 26H2 ships gives us a marketing moment: 'Updated for the latest Windows before it launches.'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conservative estimates with zero advertising spend. The beta program creates organic word of mouth, and the annual update subscription turns one-time buyers into recurring revenue.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I'm building this carefully and methodically. Happy to answer any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274320"/>
            <a:ext cx="1280160" cy="12801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5544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GatewayGuard</a:t>
            </a:r>
            <a:endParaRPr lang="en-US" sz="5200" dirty="0"/>
          </a:p>
        </p:txBody>
      </p:sp>
      <p:sp>
        <p:nvSpPr>
          <p:cNvPr id="4" name="Text 1"/>
          <p:cNvSpPr/>
          <p:nvPr/>
        </p:nvSpPr>
        <p:spPr>
          <a:xfrm>
            <a:off x="457200" y="2514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11 Security for Everyday People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2286000" y="3154680"/>
            <a:ext cx="457200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family briefing  |  June 2026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14400" y="384048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"Stop paying for something you already own.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We'll set it up and secure it correctly."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2651760" cy="3291840"/>
          </a:xfrm>
          <a:prstGeom prst="roundRect">
            <a:avLst>
              <a:gd name="adj" fmla="val 4138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23444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196596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$10.5T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365760" y="265176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of cybercrime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worldwide in 2025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3200400" y="1005840"/>
            <a:ext cx="2651760" cy="3291840"/>
          </a:xfrm>
          <a:prstGeom prst="roundRect">
            <a:avLst>
              <a:gd name="adj" fmla="val 4138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234440"/>
            <a:ext cx="640080" cy="6400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200400" y="196596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Billion</a:t>
            </a:r>
            <a:endParaRPr lang="en-US" sz="3000" dirty="0"/>
          </a:p>
        </p:txBody>
      </p:sp>
      <p:sp>
        <p:nvSpPr>
          <p:cNvPr id="10" name="Text 6"/>
          <p:cNvSpPr/>
          <p:nvPr/>
        </p:nvSpPr>
        <p:spPr>
          <a:xfrm>
            <a:off x="3200400" y="265176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11 users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may be at risk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6035040" y="1005840"/>
            <a:ext cx="2651760" cy="3291840"/>
          </a:xfrm>
          <a:prstGeom prst="roundRect">
            <a:avLst>
              <a:gd name="adj" fmla="val 4138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1234440"/>
            <a:ext cx="640080" cy="6400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035040" y="196596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$19,372</a:t>
            </a:r>
            <a:endParaRPr lang="en-US" sz="3000" dirty="0"/>
          </a:p>
        </p:txBody>
      </p:sp>
      <p:sp>
        <p:nvSpPr>
          <p:cNvPr id="14" name="Text 9"/>
          <p:cNvSpPr/>
          <p:nvPr/>
        </p:nvSpPr>
        <p:spPr>
          <a:xfrm>
            <a:off x="6035040" y="265176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loss per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cybercrime victim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457200" y="44805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11 has powerful security features built in. Some are turned off by default.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safely scanning your computer, GatewayGuard helps you turn on the ones you need.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GatewayGuard is a Windows 11 security tool designed for everyday home users.</a:t>
            </a:r>
            <a:endParaRPr lang="en-US" sz="1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08760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3000" y="1481328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Checks 19 critical security settings on your PC</a:t>
            </a:r>
            <a:endParaRPr lang="en-US" sz="16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39112"/>
            <a:ext cx="292608" cy="29260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43000" y="2011680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Explains in plain English what was found and why it matters</a:t>
            </a:r>
            <a:endParaRPr lang="en-US" sz="16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569464"/>
            <a:ext cx="292608" cy="29260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143000" y="2542032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Asks your permission before changing anything</a:t>
            </a:r>
            <a:endParaRPr lang="en-US" sz="16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099816"/>
            <a:ext cx="292608" cy="29260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43000" y="3072384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change is reversible -- nothing is permanent</a:t>
            </a:r>
            <a:endParaRPr lang="en-US" sz="16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630168"/>
            <a:ext cx="292608" cy="292608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143000" y="3602736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on Windows 11 Home and Pro -- no IT department needed</a:t>
            </a:r>
            <a:endParaRPr lang="en-US" sz="160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4160520"/>
            <a:ext cx="292608" cy="292608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143000" y="4133088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data collected -- runs completely offline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Market Opportunity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4023360" cy="3749040"/>
          </a:xfrm>
          <a:prstGeom prst="roundRect">
            <a:avLst>
              <a:gd name="adj" fmla="val 2927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0972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Numbers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Billion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331720" y="162763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11 users worldwide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203704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$47.75B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331720" y="2231136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security market in 2026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80720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$43/device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331720" y="28346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closest competitor charges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41071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$19.99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331720" y="3438144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GatewayGuard will cost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4014216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331720" y="404164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that do what GatewayGuard does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63440" y="1005840"/>
            <a:ext cx="4114800" cy="3749040"/>
          </a:xfrm>
          <a:prstGeom prst="roundRect">
            <a:avLst>
              <a:gd name="adj" fmla="val 2927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54880" y="109728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Nobody Owns This Space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754880" y="160020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tools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720840" y="162763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complex, need IT dept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54880" y="2203704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tools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720840" y="2231136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auditors, not users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54880" y="280720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Privacy/debloat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720840" y="28346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real security depth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54880" y="341071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NoID Privacy Pro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720840" y="3438144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630 auto-changes, no guidance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754880" y="4014216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GatewayGuard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720840" y="404164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 nobody has filled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Model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FFFFFF">
              <a:alpha val="10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65760" y="11430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PC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15087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$19.99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20116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One-time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0" y="100584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FFFFFF">
              <a:alpha val="10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0" y="11430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3-PC Pack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200400" y="15087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$34.99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200400" y="20116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One-time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35040" y="100584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FFFFFF">
              <a:alpha val="10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035040" y="11430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5-PC Pack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035040" y="15087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$49.99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035040" y="20116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One-time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783080" y="301752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FFFFFF">
              <a:alpha val="10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783080" y="31546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Updates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783080" y="35204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$TBD/yr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783080" y="40233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Recurring revenue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17720" y="301752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FFFFFF">
              <a:alpha val="10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617720" y="31546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Assisted Session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617720" y="35204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$39–49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4617720" y="40233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support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Maine LLC forming now  |  gatewayguard.co domain secured  |  Tool built and in testing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Already Built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60120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13232" y="932688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PowerShell tool -- 3,500+ lines, tested on real hardware</a:t>
            </a:r>
            <a:endParaRPr lang="en-US" sz="13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709928"/>
            <a:ext cx="256032" cy="25603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13232" y="1682496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build iterations -- systematic testing and improvement</a:t>
            </a:r>
            <a:endParaRPr lang="en-US" sz="13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459736"/>
            <a:ext cx="256032" cy="25603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13232" y="2432304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security settings checked, explained, and applied with user approval</a:t>
            </a:r>
            <a:endParaRPr lang="en-US" sz="13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3209544"/>
            <a:ext cx="256032" cy="256032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713232" y="3182112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Apps audit -- identifies suspicious software</a:t>
            </a:r>
            <a:endParaRPr lang="en-US" sz="13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3959352"/>
            <a:ext cx="256032" cy="256032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713232" y="3931920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detection -- adapts to each PC's configuration</a:t>
            </a:r>
            <a:endParaRPr lang="en-US" sz="1300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960120"/>
            <a:ext cx="256032" cy="256032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5148072" y="932688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Malwarebytes + Defender coexistence detection and handling</a:t>
            </a:r>
            <a:endParaRPr lang="en-US" sz="1300" dirty="0"/>
          </a:p>
        </p:txBody>
      </p:sp>
      <p:pic>
        <p:nvPicPr>
          <p:cNvPr id="1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0600" y="1709928"/>
            <a:ext cx="256032" cy="256032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5148072" y="1682496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security guide (v9) -- the website content is largely written</a:t>
            </a:r>
            <a:endParaRPr lang="en-US" sz="1300" dirty="0"/>
          </a:p>
        </p:txBody>
      </p:sp>
      <p:pic>
        <p:nvPicPr>
          <p:cNvPr id="1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00600" y="2459736"/>
            <a:ext cx="256032" cy="256032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5148072" y="2432304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research -- gap confirmed by 3 independent sources</a:t>
            </a:r>
            <a:endParaRPr lang="en-US" sz="1300" dirty="0"/>
          </a:p>
        </p:txBody>
      </p:sp>
      <p:pic>
        <p:nvPicPr>
          <p:cNvPr id="1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00600" y="3209544"/>
            <a:ext cx="256032" cy="256032"/>
          </a:xfrm>
          <a:prstGeom prst="rect">
            <a:avLst/>
          </a:prstGeom>
        </p:spPr>
      </p:pic>
      <p:sp>
        <p:nvSpPr>
          <p:cNvPr id="20" name="Text 9"/>
          <p:cNvSpPr/>
          <p:nvPr/>
        </p:nvSpPr>
        <p:spPr>
          <a:xfrm>
            <a:off x="5148072" y="3182112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strategy -- competitive analysis vs NoID ($43) and AV subscriptions</a:t>
            </a:r>
            <a:endParaRPr lang="en-US" sz="1300" dirty="0"/>
          </a:p>
        </p:txBody>
      </p:sp>
      <p:pic>
        <p:nvPicPr>
          <p:cNvPr id="2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00600" y="3959352"/>
            <a:ext cx="256032" cy="256032"/>
          </a:xfrm>
          <a:prstGeom prst="rect">
            <a:avLst/>
          </a:prstGeom>
        </p:spPr>
      </p:pic>
      <p:sp>
        <p:nvSpPr>
          <p:cNvPr id="22" name="Text 10"/>
          <p:cNvSpPr/>
          <p:nvPr/>
        </p:nvSpPr>
        <p:spPr>
          <a:xfrm>
            <a:off x="5148072" y="3931920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Maine LLC filing in progress  |  gatewayguard.co domain secured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Marketing Story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4114800" cy="1645920"/>
          </a:xfrm>
          <a:prstGeom prst="roundRect">
            <a:avLst>
              <a:gd name="adj" fmla="val 5556"/>
            </a:avLst>
          </a:prstGeom>
          <a:solidFill>
            <a:srgbClr val="FFFFFF">
              <a:alpha val="12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116128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Tagline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1508760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"Stop paying for something you already own.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We'll set it up and secure it correctly."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800600" y="1051560"/>
            <a:ext cx="4114800" cy="1645920"/>
          </a:xfrm>
          <a:prstGeom prst="roundRect">
            <a:avLst>
              <a:gd name="adj" fmla="val 5556"/>
            </a:avLst>
          </a:prstGeom>
          <a:solidFill>
            <a:srgbClr val="FFFFFF">
              <a:alpha val="12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37760" y="116128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2FA Hook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1508760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"2FA blocks 99.9% of account attacks.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Takes 5 minutes. Costs nothing.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victim loss: $19,372."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880360"/>
            <a:ext cx="4114800" cy="1645920"/>
          </a:xfrm>
          <a:prstGeom prst="roundRect">
            <a:avLst>
              <a:gd name="adj" fmla="val 5556"/>
            </a:avLst>
          </a:prstGeom>
          <a:solidFill>
            <a:srgbClr val="FFFFFF">
              <a:alpha val="12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299008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Trust Story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3337560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"Zero data collected. Zero accounts required.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Compliant with GDPR and global privacy laws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 by design, not by policy."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00600" y="2880360"/>
            <a:ext cx="4114800" cy="1645920"/>
          </a:xfrm>
          <a:prstGeom prst="roundRect">
            <a:avLst>
              <a:gd name="adj" fmla="val 5556"/>
            </a:avLst>
          </a:prstGeom>
          <a:solidFill>
            <a:srgbClr val="FFFFFF">
              <a:alpha val="12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37760" y="299008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Value Story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3337560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"We don't change hundreds of things.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help you change the ones that matter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 and we explain every single one."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Plan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1060704"/>
            <a:ext cx="201168" cy="20116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4" name="Shape 2"/>
          <p:cNvSpPr/>
          <p:nvPr/>
        </p:nvSpPr>
        <p:spPr>
          <a:xfrm>
            <a:off x="461772" y="1261872"/>
            <a:ext cx="0" cy="320040"/>
          </a:xfrm>
          <a:prstGeom prst="line">
            <a:avLst/>
          </a:prstGeom>
          <a:noFill/>
          <a:ln w="1905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058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148840" y="1005840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ascii22 on IdeaPad and HP test machine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572768"/>
            <a:ext cx="201168" cy="20116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8" name="Shape 6"/>
          <p:cNvSpPr/>
          <p:nvPr/>
        </p:nvSpPr>
        <p:spPr>
          <a:xfrm>
            <a:off x="461772" y="1773936"/>
            <a:ext cx="0" cy="320040"/>
          </a:xfrm>
          <a:prstGeom prst="line">
            <a:avLst/>
          </a:prstGeom>
          <a:noFill/>
          <a:ln w="1905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517904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July 2026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148840" y="1517904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Dell Latitude arrives -- first Windows 11 Pro tests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084832"/>
            <a:ext cx="201168" cy="20116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2" name="Shape 10"/>
          <p:cNvSpPr/>
          <p:nvPr/>
        </p:nvSpPr>
        <p:spPr>
          <a:xfrm>
            <a:off x="461772" y="2286000"/>
            <a:ext cx="0" cy="320040"/>
          </a:xfrm>
          <a:prstGeom prst="line">
            <a:avLst/>
          </a:prstGeom>
          <a:noFill/>
          <a:ln w="1905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02996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July 2026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148840" y="2029968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Maine LLC formed -- GatewayGuard LLC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596896"/>
            <a:ext cx="201168" cy="20116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Shape 14"/>
          <p:cNvSpPr/>
          <p:nvPr/>
        </p:nvSpPr>
        <p:spPr>
          <a:xfrm>
            <a:off x="461772" y="2798064"/>
            <a:ext cx="0" cy="320040"/>
          </a:xfrm>
          <a:prstGeom prst="line">
            <a:avLst/>
          </a:prstGeom>
          <a:noFill/>
          <a:ln w="19050">
            <a:solidFill>
              <a:srgbClr val="D1D5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254203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 2026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148840" y="2542032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Phase 1 live -- guide + download + home page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3108960"/>
            <a:ext cx="201168" cy="20116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Shape 18"/>
          <p:cNvSpPr/>
          <p:nvPr/>
        </p:nvSpPr>
        <p:spPr>
          <a:xfrm>
            <a:off x="461772" y="3310128"/>
            <a:ext cx="0" cy="320040"/>
          </a:xfrm>
          <a:prstGeom prst="line">
            <a:avLst/>
          </a:prstGeom>
          <a:noFill/>
          <a:ln w="19050">
            <a:solidFill>
              <a:srgbClr val="D1D5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3054096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 2026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148840" y="3054096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26H2-ready release -- one month before Microsoft update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621024"/>
            <a:ext cx="201168" cy="20116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4" name="Shape 22"/>
          <p:cNvSpPr/>
          <p:nvPr/>
        </p:nvSpPr>
        <p:spPr>
          <a:xfrm>
            <a:off x="461772" y="3822192"/>
            <a:ext cx="0" cy="320040"/>
          </a:xfrm>
          <a:prstGeom prst="line">
            <a:avLst/>
          </a:prstGeom>
          <a:noFill/>
          <a:ln w="19050">
            <a:solidFill>
              <a:srgbClr val="D1D5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35661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 2026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148840" y="3566160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11 26H2 launches -- GatewayGuard already updated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65760" y="4133088"/>
            <a:ext cx="201168" cy="20116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8" name="Shape 26"/>
          <p:cNvSpPr/>
          <p:nvPr/>
        </p:nvSpPr>
        <p:spPr>
          <a:xfrm>
            <a:off x="461772" y="4334256"/>
            <a:ext cx="0" cy="320040"/>
          </a:xfrm>
          <a:prstGeom prst="line">
            <a:avLst/>
          </a:prstGeom>
          <a:noFill/>
          <a:ln w="1905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4078224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 2026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148840" y="4078224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Beta tester program launches -- free for untested hardware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65760" y="4645152"/>
            <a:ext cx="201168" cy="20116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2" name="Text 30"/>
          <p:cNvSpPr/>
          <p:nvPr/>
        </p:nvSpPr>
        <p:spPr>
          <a:xfrm>
            <a:off x="685800" y="459028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 2026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148840" y="4590288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launch with pricing -- $19.99 single PC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Numbers</a:t>
            </a:r>
            <a:endParaRPr lang="en-US" sz="3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05840"/>
          <a:ext cx="50292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669280" y="1005840"/>
            <a:ext cx="3108960" cy="3474720"/>
          </a:xfrm>
          <a:prstGeom prst="roundRect">
            <a:avLst>
              <a:gd name="adj" fmla="val 2941"/>
            </a:avLst>
          </a:prstGeom>
          <a:solidFill>
            <a:srgbClr val="FFFFFF">
              <a:alpha val="10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5760720" y="10972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Assumptions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760720" y="15544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$19.99 avg license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760720" y="202996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30% annual update conversion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760720" y="2505456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Updates at $9.99/year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760720" y="2980944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advertising spend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760720" y="3456432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Beta program drives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organic growth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760720" y="39319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Conservative estimates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46634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 (NoID) charges $43/device with no human support.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GatewayGuard at $19.99 with assisted sessions is the stronger offer.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182880"/>
            <a:ext cx="1280160" cy="12801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4630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GatewayGuard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2286000" y="2331720"/>
            <a:ext cx="45720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24688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gap is real. The market is enormous.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timing is right. The product works.</a:t>
            </a:r>
            <a:endParaRPr lang="en-US" sz="20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3337560"/>
            <a:ext cx="274320" cy="274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63040" y="331012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test machines -- IdeaPad, HP, Dell (arriving)</a:t>
            </a:r>
            <a:endParaRPr lang="en-US" sz="13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3337560"/>
            <a:ext cx="274320" cy="27432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486400" y="331012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builds -- systematic, tested, improving</a:t>
            </a:r>
            <a:endParaRPr lang="en-US" sz="13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3959352"/>
            <a:ext cx="274320" cy="2743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463040" y="393192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gatewayguard.co secured -- website building</a:t>
            </a:r>
            <a:endParaRPr lang="en-US" sz="13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0" y="3959352"/>
            <a:ext cx="274320" cy="27432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5486400" y="393192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26H2-ready target: 1 September 2026</a:t>
            </a:r>
            <a:endParaRPr lang="en-US" sz="1300" dirty="0"/>
          </a:p>
        </p:txBody>
      </p:sp>
      <p:sp>
        <p:nvSpPr>
          <p:cNvPr id="14" name="Text 7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gatewayguard.co  |  william.wfbiii@gmail.com  |  Brunswick, Maine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GatewayGuard -- Family Overview</dc:title>
  <dc:subject>PptxGenJS Presentation</dc:subject>
  <dc:creator>PptxGenJS</dc:creator>
  <cp:lastModifiedBy>PptxGenJS</cp:lastModifiedBy>
  <cp:revision>1</cp:revision>
  <dcterms:created xsi:type="dcterms:W3CDTF">2026-06-28T11:38:55Z</dcterms:created>
  <dcterms:modified xsi:type="dcterms:W3CDTF">2026-06-28T11:38:55Z</dcterms:modified>
</cp:coreProperties>
</file>